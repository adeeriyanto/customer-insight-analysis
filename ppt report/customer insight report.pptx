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&lt;20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40+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269</c:v>
                </c:pt>
                <c:pt idx="1">
                  <c:v>743</c:v>
                </c:pt>
                <c:pt idx="2">
                  <c:v>1187</c:v>
                </c:pt>
                <c:pt idx="3">
                  <c:v>1790</c:v>
                </c:pt>
                <c:pt idx="4">
                  <c:v>2636</c:v>
                </c:pt>
                <c:pt idx="5">
                  <c:v>3576</c:v>
                </c:pt>
                <c:pt idx="6">
                  <c:v>4856</c:v>
                </c:pt>
                <c:pt idx="7">
                  <c:v>5882</c:v>
                </c:pt>
                <c:pt idx="8">
                  <c:v>7022</c:v>
                </c:pt>
                <c:pt idx="9">
                  <c:v>8266</c:v>
                </c:pt>
                <c:pt idx="10">
                  <c:v>8636</c:v>
                </c:pt>
                <c:pt idx="11">
                  <c:v>8867</c:v>
                </c:pt>
                <c:pt idx="12">
                  <c:v>8645</c:v>
                </c:pt>
                <c:pt idx="13">
                  <c:v>8034</c:v>
                </c:pt>
                <c:pt idx="14">
                  <c:v>7214</c:v>
                </c:pt>
                <c:pt idx="15">
                  <c:v>5894</c:v>
                </c:pt>
                <c:pt idx="16">
                  <c:v>4873</c:v>
                </c:pt>
                <c:pt idx="17">
                  <c:v>3583</c:v>
                </c:pt>
                <c:pt idx="18">
                  <c:v>2697</c:v>
                </c:pt>
                <c:pt idx="19">
                  <c:v>1791</c:v>
                </c:pt>
                <c:pt idx="20">
                  <c:v>1200</c:v>
                </c:pt>
                <c:pt idx="21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14-4158-AE99-0A4BF97AA8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EF8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EF8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99-45DA-8492-858E2521117D}"/>
              </c:ext>
            </c:extLst>
          </c:dPt>
          <c:dPt>
            <c:idx val="1"/>
            <c:bubble3D val="0"/>
            <c:spPr>
              <a:solidFill>
                <a:srgbClr val="83C5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99-45DA-8492-858E2521117D}"/>
              </c:ext>
            </c:extLst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399-45DA-8492-858E2521117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99-45DA-8492-858E2521117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99-45DA-8492-858E2521117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99-45DA-8492-858E2521117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Rare</c:v>
                </c:pt>
                <c:pt idx="1">
                  <c:v>Occasional</c:v>
                </c:pt>
                <c:pt idx="2">
                  <c:v>Frequent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50019</c:v>
                </c:pt>
                <c:pt idx="1">
                  <c:v>29886</c:v>
                </c:pt>
                <c:pt idx="2">
                  <c:v>20095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99-45DA-8492-858E252111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0A5B5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5B5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 ($)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5B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Bachelor</c:v>
                </c:pt>
                <c:pt idx="1">
                  <c:v>Masters</c:v>
                </c:pt>
                <c:pt idx="2">
                  <c:v>High School</c:v>
                </c:pt>
                <c:pt idx="3">
                  <c:v>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27555.37</c:v>
                </c:pt>
                <c:pt idx="1">
                  <c:v>27470.79</c:v>
                </c:pt>
                <c:pt idx="2">
                  <c:v>27423.47</c:v>
                </c:pt>
                <c:pt idx="3">
                  <c:v>27544.39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21-4A4A-918B-A633C581D1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8B69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Bachelor</c:v>
                </c:pt>
                <c:pt idx="1">
                  <c:v>Masters</c:v>
                </c:pt>
                <c:pt idx="2">
                  <c:v>High School</c:v>
                </c:pt>
                <c:pt idx="3">
                  <c:v>College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9656.73</c:v>
                </c:pt>
                <c:pt idx="1">
                  <c:v>9614.4</c:v>
                </c:pt>
                <c:pt idx="2">
                  <c:v>9586.7099999999991</c:v>
                </c:pt>
                <c:pt idx="3">
                  <c:v>9647.31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21-4A4A-918B-A633C581D1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EF8F9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EF8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South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30074</c:v>
                </c:pt>
                <c:pt idx="1">
                  <c:v>29935</c:v>
                </c:pt>
                <c:pt idx="2">
                  <c:v>20073</c:v>
                </c:pt>
                <c:pt idx="3">
                  <c:v>19918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6C-455A-A7A6-AF9B2A4EA9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3C5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56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3C5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5B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5B5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3A-4D95-9957-B8ACC41667A9}"/>
              </c:ext>
            </c:extLst>
          </c:dPt>
          <c:dPt>
            <c:idx val="1"/>
            <c:invertIfNegative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3A-4D95-9957-B8ACC41667A9}"/>
              </c:ext>
            </c:extLst>
          </c:dPt>
          <c:dPt>
            <c:idx val="2"/>
            <c:invertIfNegative val="0"/>
            <c:bubble3D val="0"/>
            <c:spPr>
              <a:solidFill>
                <a:srgbClr val="6BBE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3A-4D95-9957-B8ACC41667A9}"/>
              </c:ext>
            </c:extLst>
          </c:dPt>
          <c:dPt>
            <c:idx val="3"/>
            <c:invertIfNegative val="0"/>
            <c:bubble3D val="0"/>
            <c:spPr>
              <a:solidFill>
                <a:srgbClr val="83C5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3A-4D95-9957-B8ACC41667A9}"/>
              </c:ext>
            </c:extLst>
          </c:dPt>
          <c:dPt>
            <c:idx val="4"/>
            <c:invertIfNegative val="0"/>
            <c:bubble3D val="0"/>
            <c:spPr>
              <a:solidFill>
                <a:srgbClr val="A8D5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D3A-4D95-9957-B8ACC41667A9}"/>
              </c:ext>
            </c:extLst>
          </c:dPt>
          <c:dPt>
            <c:idx val="5"/>
            <c:invertIfNegative val="0"/>
            <c:bubble3D val="0"/>
            <c:spPr>
              <a:solidFill>
                <a:srgbClr val="C5E8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D3A-4D95-9957-B8ACC41667A9}"/>
              </c:ext>
            </c:extLst>
          </c:dPt>
          <c:dPt>
            <c:idx val="6"/>
            <c:invertIfNegative val="0"/>
            <c:bubble3D val="0"/>
            <c:spPr>
              <a:solidFill>
                <a:srgbClr val="D8F0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D3A-4D95-9957-B8ACC41667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33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Clothing</c:v>
                </c:pt>
                <c:pt idx="2">
                  <c:v>Books</c:v>
                </c:pt>
                <c:pt idx="3">
                  <c:v>Food</c:v>
                </c:pt>
                <c:pt idx="4">
                  <c:v>Health</c:v>
                </c:pt>
                <c:pt idx="5">
                  <c:v>Home</c:v>
                </c:pt>
                <c:pt idx="6">
                  <c:v>Beauty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30027</c:v>
                </c:pt>
                <c:pt idx="1">
                  <c:v>19989</c:v>
                </c:pt>
                <c:pt idx="2">
                  <c:v>14925</c:v>
                </c:pt>
                <c:pt idx="3">
                  <c:v>14822</c:v>
                </c:pt>
                <c:pt idx="4">
                  <c:v>10123</c:v>
                </c:pt>
                <c:pt idx="5">
                  <c:v>5079</c:v>
                </c:pt>
                <c:pt idx="6">
                  <c:v>5035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D3A-4D95-9957-B8ACC41667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EF8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EF8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Promo Usage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24F-4575-B86C-DBC65747FD67}"/>
              </c:ext>
            </c:extLst>
          </c:dPt>
          <c:dPt>
            <c:idx val="1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4F-4575-B86C-DBC65747FD67}"/>
              </c:ext>
            </c:extLst>
          </c:dPt>
          <c:dLbls>
            <c:dLbl>
              <c:idx val="0"/>
              <c:layout>
                <c:manualLayout>
                  <c:x val="-0.20006965841226368"/>
                  <c:y val="-0.13794209317585307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4F-4575-B86C-DBC65747FD67}"/>
                </c:ext>
              </c:extLst>
            </c:dLbl>
            <c:dLbl>
              <c:idx val="1"/>
              <c:layout>
                <c:manualLayout>
                  <c:x val="0.14209650424131767"/>
                  <c:y val="0.12730014216972879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4F-4575-B86C-DBC65747FD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Did Not Use Promo</c:v>
                </c:pt>
                <c:pt idx="1">
                  <c:v>Used Promo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69920</c:v>
                </c:pt>
                <c:pt idx="1">
                  <c:v>30080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4F-4575-B86C-DBC65747F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A5B5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5B5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27-4BB8-A834-F0AA77126212}"/>
              </c:ext>
            </c:extLst>
          </c:dPt>
          <c:dPt>
            <c:idx val="1"/>
            <c:invertIfNegative val="0"/>
            <c:bubble3D val="0"/>
            <c:spPr>
              <a:solidFill>
                <a:srgbClr val="83C5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27-4BB8-A834-F0AA77126212}"/>
              </c:ext>
            </c:extLst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27-4BB8-A834-F0AA771262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33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Silver</c:v>
                </c:pt>
                <c:pt idx="2">
                  <c:v>Gold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60138</c:v>
                </c:pt>
                <c:pt idx="1">
                  <c:v>29964</c:v>
                </c:pt>
                <c:pt idx="2">
                  <c:v>9898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27-4BB8-A834-F0AA771262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8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EF8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EF8F9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84-4F28-9A84-3E7F8060A8BB}"/>
              </c:ext>
            </c:extLst>
          </c:dPt>
          <c:dPt>
            <c:idx val="1"/>
            <c:invertIfNegative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84-4F28-9A84-3E7F8060A8BB}"/>
              </c:ext>
            </c:extLst>
          </c:dPt>
          <c:dPt>
            <c:idx val="2"/>
            <c:invertIfNegative val="0"/>
            <c:bubble3D val="0"/>
            <c:spPr>
              <a:solidFill>
                <a:srgbClr val="83C5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84-4F28-9A84-3E7F8060A8BB}"/>
              </c:ext>
            </c:extLst>
          </c:dPt>
          <c:dPt>
            <c:idx val="3"/>
            <c:invertIfNegative val="0"/>
            <c:bubble3D val="0"/>
            <c:spPr>
              <a:solidFill>
                <a:srgbClr val="6BBE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84-4F28-9A84-3E7F8060A8BB}"/>
              </c:ext>
            </c:extLst>
          </c:dPt>
          <c:dPt>
            <c:idx val="4"/>
            <c:invertIfNegative val="0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784-4F28-9A84-3E7F8060A8BB}"/>
              </c:ext>
            </c:extLst>
          </c:dPt>
          <c:dPt>
            <c:idx val="5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784-4F28-9A84-3E7F8060A8BB}"/>
              </c:ext>
            </c:extLst>
          </c:dPt>
          <c:dPt>
            <c:idx val="6"/>
            <c:invertIfNegative val="0"/>
            <c:bubble3D val="0"/>
            <c:spPr>
              <a:solidFill>
                <a:srgbClr val="83C5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784-4F28-9A84-3E7F8060A8BB}"/>
              </c:ext>
            </c:extLst>
          </c:dPt>
          <c:dPt>
            <c:idx val="7"/>
            <c:invertIfNegative val="0"/>
            <c:bubble3D val="0"/>
            <c:spPr>
              <a:solidFill>
                <a:srgbClr val="A8D5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784-4F28-9A84-3E7F8060A8BB}"/>
              </c:ext>
            </c:extLst>
          </c:dPt>
          <c:dPt>
            <c:idx val="8"/>
            <c:invertIfNegative val="0"/>
            <c:bubble3D val="0"/>
            <c:spPr>
              <a:solidFill>
                <a:srgbClr val="D4B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784-4F28-9A84-3E7F8060A8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Hi · Low Freq</c:v>
                </c:pt>
                <c:pt idx="1">
                  <c:v>Mid · Low Freq</c:v>
                </c:pt>
                <c:pt idx="2">
                  <c:v>Hi · Med Freq</c:v>
                </c:pt>
                <c:pt idx="3">
                  <c:v>Lo · Low Freq</c:v>
                </c:pt>
                <c:pt idx="4">
                  <c:v>Mid · Med Freq</c:v>
                </c:pt>
                <c:pt idx="5">
                  <c:v>Hi · Hi Freq</c:v>
                </c:pt>
                <c:pt idx="6">
                  <c:v>Mid · Hi Freq</c:v>
                </c:pt>
                <c:pt idx="7">
                  <c:v>Lo · Medium Freq</c:v>
                </c:pt>
                <c:pt idx="8">
                  <c:v>Lo · Hi Freq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22349</c:v>
                </c:pt>
                <c:pt idx="1">
                  <c:v>16453</c:v>
                </c:pt>
                <c:pt idx="2">
                  <c:v>13419</c:v>
                </c:pt>
                <c:pt idx="3">
                  <c:v>11217</c:v>
                </c:pt>
                <c:pt idx="4">
                  <c:v>9887</c:v>
                </c:pt>
                <c:pt idx="5">
                  <c:v>8897</c:v>
                </c:pt>
                <c:pt idx="6">
                  <c:v>6767</c:v>
                </c:pt>
                <c:pt idx="7">
                  <c:v>6580</c:v>
                </c:pt>
                <c:pt idx="8">
                  <c:v>4431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784-4F28-9A84-3E7F8060A8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3C5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56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3C5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5B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5B5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10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822960"/>
            <a:ext cx="3017520" cy="30175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64008" cy="24688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533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DATA ANALYSIS REPORT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Customer</a:t>
            </a:r>
            <a:endParaRPr lang="en-US" sz="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Insight Report</a:t>
            </a:r>
            <a:endParaRPr lang="en-US" sz="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681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CUSTOMERS</a:t>
            </a:r>
            <a:endParaRPr lang="en-US" sz="6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100,000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03120" y="4681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AVG AGE</a:t>
            </a:r>
            <a:endParaRPr lang="en-US" sz="6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0312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30 Years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86200" y="4681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AVG INCOME</a:t>
            </a:r>
            <a:endParaRPr lang="en-US" sz="6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8620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$27,516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0" y="4681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PROMO USERS</a:t>
            </a:r>
            <a:endParaRPr lang="en-US" sz="6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30.1%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52360" y="4681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AVG SATISFACTION</a:t>
            </a:r>
            <a:endParaRPr lang="en-US" sz="6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5236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5.0 / 10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KEY
</a:t>
            </a:r>
            <a:r>
              <a:rPr lang="en-US" sz="20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PERFORMANCE
</a:t>
            </a:r>
            <a:r>
              <a:rPr lang="en-US" sz="2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INDICATORS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1280160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7432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74320"/>
            <a:ext cx="64008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65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100,000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29000" y="932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Total Customers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9000" y="11887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Complete customer base across all regions and segments.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181051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810512"/>
            <a:ext cx="64008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9019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30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29000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Average Age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29000" y="27249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Peak age cluster is 28–32 — a prime working-adult segment.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46120" y="3346704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3346704"/>
            <a:ext cx="64008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4381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$27,516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29000" y="4005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Avg Annual Income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29000" y="4261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Middle-income bracket; indicates mid-market purchasing power.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27432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74320"/>
            <a:ext cx="64008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65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5.0/10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46520" y="932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Avg Satisfaction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46520" y="11887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Flat score across all tiers — improvement opportunity exists.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181051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1810512"/>
            <a:ext cx="64008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9019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30.1%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46520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Promo Usage Rate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46520" y="27249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Nearly 70% of customers don't use promos — targeting gap.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Customer Age Distribution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03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Demographic breakdown by age group across all 100,000 customers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09728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14300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143000"/>
            <a:ext cx="64008" cy="11155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216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Age 30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72200" y="1600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Peak Age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72200" y="18196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8,867 customers at age 30 — the single largest cohort.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242316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2423160"/>
            <a:ext cx="64008" cy="11155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496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25–35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72200" y="2880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Core Segment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72200" y="30998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~72,000 customers (72%) fall in this 10-year band — a highly concentrated working-adult base.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989320" y="370332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703320"/>
            <a:ext cx="64008" cy="11155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776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~30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172200" y="4160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Median Age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72200" y="43799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Distribution is bell-shaped and slightly right-skewed. Avg and median nearly identical.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2A2C"/>
          </a:solidFill>
          <a:ln w="12700">
            <a:solidFill>
              <a:srgbClr val="08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Frequency of Purchase by Customer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How often do customers make purchases? — Rare vs Occasional vs Frequent buyers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653595782"/>
              </p:ext>
            </p:extLst>
          </p:nvPr>
        </p:nvGraphicFramePr>
        <p:xfrm>
          <a:off x="320040" y="114300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029200" y="1188720"/>
            <a:ext cx="379476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0" y="1188720"/>
            <a:ext cx="64008" cy="109728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0368" y="1252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50,019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30368" y="1673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919B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50.0%  ·  Rare Buyers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30368" y="1938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Buy infrequently — re-engagement campaigns needed.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0" y="2450592"/>
            <a:ext cx="379476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0" y="2450592"/>
            <a:ext cx="64008" cy="10972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30368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29,886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30368" y="29352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29.9%  ·  Occasional Buyers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30368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Mid-tier frequency — can be upsold with loyalty rewards.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0" y="3712464"/>
            <a:ext cx="379476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3712464"/>
            <a:ext cx="64008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20,095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230368" y="4197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20.1%  ·  Frequent Buyers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230368" y="4462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Most valuable cohort — high retention priority.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Purchase Amount by Education &amp; Income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03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Do higher education levels drive higher spend? A cross-segment comparison.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14300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188720"/>
            <a:ext cx="3154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188720"/>
            <a:ext cx="64008" cy="3657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70448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Key Finding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70448" y="1618488"/>
            <a:ext cx="137160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No Significant Variation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70448" y="21031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Income and purchase amounts are nearly identical across all four education levels — max delta is only ~$132 in income and ~$70 in purchase.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870448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Education ≠ Spending Power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870448" y="3108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This challenges the conventional assumption. Customers' spending behavior here appears driven by other factors (region, product preference, frequency).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70448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Targeting Implication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870448" y="4114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Segmentation by education alone is not an effective strategy for this dataset. Income-based or behavioral segments will be more actionable.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2A2C"/>
          </a:solidFill>
          <a:ln w="12700">
            <a:solidFill>
              <a:srgbClr val="08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Regional Analysis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Customer count and total purchase volume by geographic region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14300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983480" y="1188720"/>
            <a:ext cx="38404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188720"/>
            <a:ext cx="64008" cy="8229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6360" y="1225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East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166360" y="1517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30,074 customers  ·  $289.2M revenue  ·  29.2% of total</a:t>
            </a:r>
            <a:endParaRPr lang="en-US" sz="9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6636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Largest region — anchor market.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983480" y="2157984"/>
            <a:ext cx="38404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157984"/>
            <a:ext cx="64008" cy="8229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6360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West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66360" y="24871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29,935 customers  ·  $288.0M revenue  ·  28.9% of total</a:t>
            </a:r>
            <a:endParaRPr lang="en-US" sz="9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166360" y="27066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Nearly tied with East — strong parity.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983480" y="3127248"/>
            <a:ext cx="38404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83480" y="3127248"/>
            <a:ext cx="64008" cy="8229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0" y="3163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South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166360" y="3456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20,073 customers  ·  $193.7M revenue  ·  19.4% of total</a:t>
            </a:r>
            <a:endParaRPr lang="en-US" sz="9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166360" y="3675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Significant gap vs East/West — growth target.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983480" y="4096512"/>
            <a:ext cx="38404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83480" y="4096512"/>
            <a:ext cx="64008" cy="8229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6636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North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166360" y="4425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19,918 customers  ·  $192.7M revenue  ·  19.3% of total</a:t>
            </a:r>
            <a:endParaRPr lang="en-US" sz="9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166360" y="4645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Smallest region — expansion opportunity.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983480" y="5029200"/>
            <a:ext cx="3840480" cy="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Popular Product Categories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03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Purchase count and total revenue by product category — 100,000 customers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783741249"/>
              </p:ext>
            </p:extLst>
          </p:nvPr>
        </p:nvGraphicFramePr>
        <p:xfrm>
          <a:off x="320040" y="114300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188720"/>
            <a:ext cx="3154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188720"/>
            <a:ext cx="3154680" cy="41148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9008" y="122529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Revenue Breakdown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669280" y="1664208"/>
            <a:ext cx="3154680" cy="448056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42432" y="1792224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Electronics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0" y="1755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$289.7M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19872" y="17556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30.07%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669280" y="2112264"/>
            <a:ext cx="3154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42432" y="2240280"/>
            <a:ext cx="182880" cy="182880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Clothing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0" y="22037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$192.6M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119872" y="22037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19.99%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669280" y="2560320"/>
            <a:ext cx="3154680" cy="448056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2688336"/>
            <a:ext cx="182880" cy="182880"/>
          </a:xfrm>
          <a:prstGeom prst="ellipse">
            <a:avLst/>
          </a:prstGeom>
          <a:solidFill>
            <a:srgbClr val="6BBEC4"/>
          </a:solidFill>
          <a:ln w="12700">
            <a:solidFill>
              <a:srgbClr val="6BBE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Books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15200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$143.2M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119872" y="2651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14.88%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69280" y="3008376"/>
            <a:ext cx="3154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3136392"/>
            <a:ext cx="182880" cy="182880"/>
          </a:xfrm>
          <a:prstGeom prst="ellipse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89320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Food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315200" y="30998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$143.3M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119872" y="3099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14.86%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669280" y="3456432"/>
            <a:ext cx="3154680" cy="448056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42432" y="3584448"/>
            <a:ext cx="182880" cy="182880"/>
          </a:xfrm>
          <a:prstGeom prst="ellipse">
            <a:avLst/>
          </a:prstGeom>
          <a:solidFill>
            <a:srgbClr val="A8D5D8"/>
          </a:solidFill>
          <a:ln w="12700">
            <a:solidFill>
              <a:srgbClr val="A8D5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8932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Health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315200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$97.3M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119872" y="3547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10.10%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669280" y="3904488"/>
            <a:ext cx="3154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42432" y="4032504"/>
            <a:ext cx="182880" cy="1828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89320" y="3995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Beauty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315200" y="3995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$48.9M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119872" y="39959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5.08%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669280" y="4352544"/>
            <a:ext cx="3154680" cy="448056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742432" y="448056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89320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335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Home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315200" y="4443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$48.4M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119872" y="44439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5.03%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2A2C"/>
          </a:solidFill>
          <a:ln w="12700">
            <a:solidFill>
              <a:srgbClr val="08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Promotion Code Usage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How many customers actively use promotional codes vs. those who don't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594620797"/>
              </p:ext>
            </p:extLst>
          </p:nvPr>
        </p:nvGraphicFramePr>
        <p:xfrm>
          <a:off x="548640" y="114300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029200" y="1280160"/>
            <a:ext cx="379476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0" y="1280160"/>
            <a:ext cx="64008" cy="141732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0368" y="13533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69,920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30368" y="1874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919B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69.9%  ·  Did Not Use Promo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30368" y="21579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Largest segment — majority of customers bypass promotional offers entirely.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0" y="2926080"/>
            <a:ext cx="379476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0" y="2926080"/>
            <a:ext cx="64008" cy="1417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30368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30,080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30368" y="3520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30.1%  ·  Used Promo Code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30368" y="38039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Nearly 1 in 3 customers used a promo — strong enough to sustain the program.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Customer Loyalty &amp; Satisfaction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03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Distribution by loyalty tier and average satisfaction scores across segments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14300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160520"/>
            <a:ext cx="4572000" cy="73152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187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Avg Satisfaction Score — Regular: 5.008  ·  Silver: 5.011  ·  Gold: 5.013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462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Scores are nearly identical across all tiers — no tier benefits from meaningfully higher satisfaction.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120640" y="1188720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188720"/>
            <a:ext cx="64008" cy="82296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1243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Regular = Majority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21808" y="15179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60,138 customers (60.1%) are in the Regular tier — the baseline. Broad but potentially under-engaged.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20640" y="2167128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2167128"/>
            <a:ext cx="64008" cy="8229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2221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Silver is Mid-tier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21808" y="2496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29,964 customers (30%) in Silver — a sizeable group that could be upgraded with targeted incentives.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120640" y="3145536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20640" y="3145536"/>
            <a:ext cx="64008" cy="8229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Gold is Thin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21808" y="3474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Only 9,898 customers (9.9%) in Gold. Low premium tier penetration — loyalty program redesign recommended.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120640" y="4123944"/>
            <a:ext cx="3703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120640" y="4123944"/>
            <a:ext cx="64008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21808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B5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Satisfaction Flat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321808" y="4453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F8688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All tiers score exactly ~5.01/10. Loyalty tiers don't correlate with satisfaction — rethink tier benefits.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2A2C"/>
          </a:solidFill>
          <a:ln w="12700">
            <a:solidFill>
              <a:srgbClr val="08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Customer Segmentation Matrix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Income tier × Purchase frequency — revealing 9 distinct customer profiles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29398799"/>
              </p:ext>
            </p:extLst>
          </p:nvPr>
        </p:nvGraphicFramePr>
        <p:xfrm>
          <a:off x="320040" y="1143000"/>
          <a:ext cx="48463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394960" y="1188720"/>
            <a:ext cx="3429000" cy="3749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Strategic Recommendations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532120" y="1645920"/>
            <a:ext cx="1828800" cy="502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01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Retain Top Segment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0" y="2103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High Income + Low Frequency (22,349) — deploy VIP retention programs before churn risk grows.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532120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02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Uplift Mid Income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43600" y="29077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Middle Income + Low Frequency (16,453) — cross-sell and bundle deals to push them into high-spend behavior.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532120" y="34381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03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94360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Convert Low Freq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943600" y="37124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Low Frequency segments (50K) — re-engagement via personalized email or promo codes.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32120" y="4242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04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Grow High Freq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43600" y="45171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Only 20K customers (20%) are high-frequency. Loyalty program overhaul could shift occasional buyers upward.</a:t>
            </a:r>
            <a:endParaRPr lang="en-US" sz="8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5B5E"/>
          </a:solidFill>
          <a:ln w="12700">
            <a:solidFill>
              <a:srgbClr val="0A5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566160"/>
            <a:ext cx="3200400" cy="32004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2560320" cy="2560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31520"/>
            <a:ext cx="64008" cy="3840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Key Takeaways &amp;</a:t>
            </a:r>
            <a:endParaRPr lang="en-US" sz="3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Recommendations</a:t>
            </a:r>
            <a:endParaRPr lang="en-US" sz="3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01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U.S. East &amp; West dominate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45973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East and West regions represent ~60% of customers and revenue. South and North need dedicated growth strategies.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3410712"/>
            <a:ext cx="4023360" cy="137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02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Electronics is the cash cow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38770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Electronics accounts for 43.8% of total revenue despite 30% of customers — protect and grow this category.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03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3212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Promo reach is too narrow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32120" y="245973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Only 30% of customers use promos. Expanding personalized promo delivery could unlock significant incremental revenue.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83480" y="3410712"/>
            <a:ext cx="4023360" cy="1371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  <a:latin typeface="Roboto" panose="02000000000000000000" pitchFamily="2" charset="0"/>
                <a:ea typeface="Roboto" panose="02000000000000000000" pitchFamily="2" charset="0"/>
                <a:cs typeface="Georgia" pitchFamily="34" charset="-120"/>
              </a:rPr>
              <a:t>04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32120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Loyalty program needs a rethink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32120" y="38770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83C5BE"/>
                </a:solidFill>
                <a:latin typeface="Roboto" panose="02000000000000000000" pitchFamily="2" charset="0"/>
                <a:ea typeface="Roboto" panose="02000000000000000000" pitchFamily="2" charset="0"/>
                <a:cs typeface="Calibri" pitchFamily="34" charset="-120"/>
              </a:rPr>
              <a:t>Satisfaction is flat at 5/10 across all tiers. The current loyalty structure does not meaningfully differentiate customer experience.</a:t>
            </a:r>
            <a:endParaRPr lang="en-US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 Report  ·  Data Analysis  ·  100,000 Customers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903</Words>
  <Application>Microsoft Office PowerPoint</Application>
  <PresentationFormat>On-screen Show (16:9)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Insight Report</dc:title>
  <dc:subject>PptxGenJS Presentation</dc:subject>
  <dc:creator>PptxGenJS</dc:creator>
  <cp:lastModifiedBy>Ade Eriyanto</cp:lastModifiedBy>
  <cp:revision>9</cp:revision>
  <dcterms:created xsi:type="dcterms:W3CDTF">2026-05-04T03:46:31Z</dcterms:created>
  <dcterms:modified xsi:type="dcterms:W3CDTF">2026-05-04T07:53:06Z</dcterms:modified>
</cp:coreProperties>
</file>